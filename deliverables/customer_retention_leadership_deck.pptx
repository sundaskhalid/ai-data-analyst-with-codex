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a8e8b365543a3" /><Relationship Type="http://schemas.openxmlformats.org/officeDocument/2006/relationships/extended-properties" Target="/docProps/app.xml" Id="Rf7691f213a1940c2" /><Relationship Type="http://schemas.openxmlformats.org/officeDocument/2006/relationships/officeDocument" Target="/ppt/presentation.xml" Id="Rafc377a6dbb1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7eb2df0fe4101"/>
  </p:sldMasterIdLst>
  <p:notesMasterIdLst>
    <p:notesMasterId xmlns:r="http://schemas.openxmlformats.org/officeDocument/2006/relationships" r:id="R92608b7a0e184600"/>
  </p:notesMasterIdLst>
  <p:sldIdLst>
    <p:sldId xmlns:r="http://schemas.openxmlformats.org/officeDocument/2006/relationships" id="256" r:id="Rcb9ef917e0924460"/>
    <p:sldId xmlns:r="http://schemas.openxmlformats.org/officeDocument/2006/relationships" id="257" r:id="R755035eb1a284698"/>
    <p:sldId xmlns:r="http://schemas.openxmlformats.org/officeDocument/2006/relationships" id="258" r:id="Rc7e40739c676464d"/>
    <p:sldId xmlns:r="http://schemas.openxmlformats.org/officeDocument/2006/relationships" id="259" r:id="R7c604db041414186"/>
    <p:sldId xmlns:r="http://schemas.openxmlformats.org/officeDocument/2006/relationships" id="260" r:id="R17c3f4425ff342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7eb2df0fe4101" /><Relationship Type="http://schemas.openxmlformats.org/officeDocument/2006/relationships/theme" Target="/ppt/theme/theme1.xml" Id="R00c1cef523e449a2" /><Relationship Type="http://schemas.openxmlformats.org/officeDocument/2006/relationships/notesMaster" Target="/ppt/notesMasters/notesMaster1.xml" Id="R92608b7a0e184600" /><Relationship Type="http://schemas.openxmlformats.org/officeDocument/2006/relationships/presProps" Target="/ppt/presProps.xml" Id="Rbc95a3d9e88e48d3" /><Relationship Type="http://schemas.openxmlformats.org/officeDocument/2006/relationships/viewProps" Target="/ppt/viewProps.xml" Id="R92a7c8c26dba458d" /><Relationship Type="http://schemas.openxmlformats.org/officeDocument/2006/relationships/tableStyles" Target="/ppt/tableStyles.xml" Id="R5d8c66100ab54b71" /><Relationship Type="http://schemas.openxmlformats.org/officeDocument/2006/relationships/slide" Target="/ppt/slides/slide1.xml" Id="Rcb9ef917e0924460" /><Relationship Type="http://schemas.openxmlformats.org/officeDocument/2006/relationships/slide" Target="/ppt/slides/slide2.xml" Id="R755035eb1a284698" /><Relationship Type="http://schemas.openxmlformats.org/officeDocument/2006/relationships/slide" Target="/ppt/slides/slide3.xml" Id="Rc7e40739c676464d" /><Relationship Type="http://schemas.openxmlformats.org/officeDocument/2006/relationships/slide" Target="/ppt/slides/slide4.xml" Id="R7c604db041414186" /><Relationship Type="http://schemas.openxmlformats.org/officeDocument/2006/relationships/slide" Target="/ppt/slides/slide5.xml" Id="R17c3f4425ff3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b84adfab4d847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4508e40234297" /><Relationship Type="http://schemas.openxmlformats.org/officeDocument/2006/relationships/notesMaster" Target="/ppt/notesMasters/notesMaster1.xml" Id="Reaea02e7b36443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3ee11cb8248f9" /><Relationship Type="http://schemas.openxmlformats.org/officeDocument/2006/relationships/notesMaster" Target="/ppt/notesMasters/notesMaster1.xml" Id="R46c0f5c161624a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587f64c6464ae2" /><Relationship Type="http://schemas.openxmlformats.org/officeDocument/2006/relationships/notesMaster" Target="/ppt/notesMasters/notesMaster1.xml" Id="Rd4b00589526042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4e6d5d16e4efd" /><Relationship Type="http://schemas.openxmlformats.org/officeDocument/2006/relationships/notesMaster" Target="/ppt/notesMasters/notesMaster1.xml" Id="R9be20275fe594b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1466d044f4f47" /><Relationship Type="http://schemas.openxmlformats.org/officeDocument/2006/relationships/notesMaster" Target="/ppt/notesMasters/notesMaster1.xml" Id="Rd8ab13907eb6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8bf296e9547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3e0d52387d24a62" /><Relationship Type="http://schemas.openxmlformats.org/officeDocument/2006/relationships/slideLayout" Target="/ppt/slideLayouts/slideLayout2.xml" Id="Rbc5cfcd5ef9a42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5cfcd5ef9a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a24f34f684ea9" /><Relationship Type="http://schemas.openxmlformats.org/officeDocument/2006/relationships/notesSlide" Target="/ppt/notesSlides/notesSlide1.xml" Id="Rdd8568430ad644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43a93d2bd4222" /><Relationship Type="http://schemas.openxmlformats.org/officeDocument/2006/relationships/notesSlide" Target="/ppt/notesSlides/notesSlide2.xml" Id="R717927d80b5741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2fb42f1e524b41" /><Relationship Type="http://schemas.openxmlformats.org/officeDocument/2006/relationships/notesSlide" Target="/ppt/notesSlides/notesSlide3.xml" Id="R890e6d5da66242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17c755a0b4f7b" /><Relationship Type="http://schemas.openxmlformats.org/officeDocument/2006/relationships/notesSlide" Target="/ppt/notesSlides/notesSlide4.xml" Id="R36e8d1ff2e5444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b937bc720443c" /><Relationship Type="http://schemas.openxmlformats.org/officeDocument/2006/relationships/notesSlide" Target="/ppt/notesSlides/notesSlide5.xml" Id="R3c4e7c46beb743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7F7F34-324E-48FA-8B32-3FB4DB3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B29E4-770C-45A1-82D5-DD5B0FD3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9E2A8-790C-4E01-819C-5BDC9E13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RETENTION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DE723-1A38-46BA-B6E5-10B50C3C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April's retention drop is an operational break, not a broad demand miss.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88365-A642-4F94-82E3-041E85B2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Week of Apr 27, 2026 vs prior four-week April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20CE4-71F0-45F8-B97C-F552EFEB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33D75-6174-4064-A7D2-C2725239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72.6%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D9B9A-1698-41BB-9CF9-618D7B26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BASELINE RETENTION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78F4D-3B7C-4AB0-916E-C438E14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 30-Apr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81C32-82B4-4407-A4EE-59F5958B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FE7E9-E5C6-4860-9FA5-D6A0B563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46.3%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FBAF-415F-44E7-B486-1F357C04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DROP-WEEK RETENTION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56172-5092-46C5-AE52-51F7060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starting Apr 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5C6FD-B676-4050-A6D0-A83C019B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13185-D520-44DA-AC46-3C5537F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43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-26.3 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229E5-A530-4D38-A416-541CFDE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RETENTION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610CF-EAC8-4E4C-B3F5-D1D0247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customer-week basis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B80EF-6F64-4A9B-80FF-65739C4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8BCAA-4DF2-4B3E-930F-C57947E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588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EF2B8-CE82-45AB-A222-2FAE8C2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ACTIVE CUSTOMERS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BDE12-290A-4F57-B954-2CB2C14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drop-week customers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26D77-4DD3-4E3C-B6FD-F746E9D3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28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E77EF-5261-4421-9DF8-EE1AF5D2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Top three drivers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4BDB3-55CF-403B-8559-9B940A4C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  Mobile app 4.3.1 crash exposure reached 52.6% of customer-weeks.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7A485-15FB-4788-91FD-A610220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  Email coverage fell to 2.2% and promo exposure to 9.7%.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56422-489A-43E0-8239-F71FBAC6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  Support-ticket rate more than doubled while churn risk jumped to 63.1.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C21CE-03FD-4693-913F-67EAE573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EE53B-0802-4E8E-B1CD-A23B5CA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Leadership implication: fix the mobile release first, then rebuild lifecycle reach and support containment around affected users.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AB341-A1A8-449B-BF0B-1129B14F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1BBE6-9F2C-4F9C-9332-F57E1597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customer_retention_data.csv | customer-week aggregation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73467-12AE-450F-B21B-13163F73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6484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05148-2F86-4D44-9BDA-88B058F2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CD4F6-15C8-4E99-907D-61E9314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89F3B-5B47-4216-97F5-6F0CEC42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TREND BREAK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411A3-913B-47C2-84E5-9A2CBA6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Apr 27 week is the first true break from the improving April retention trend.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B4324-0A75-41A5-B0D8-827E39C5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28F73-E194-42F6-94FE-4DB4726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45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E044E-8B3A-42E6-933C-C174309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7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121C5-60C8-4367-9CC7-92C3AF5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60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B6E06-0E43-4C7D-B5B7-28C136F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798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60%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7DB79-F80F-423E-B76E-A535F794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2AF45-5205-4A0D-9A51-EBF0EC0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81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D5E31-78EF-4FB9-B5DF-AC23300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90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2521B-18ED-46BF-A7DC-3737B20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828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9A5B6-C9CF-4E3E-8C7A-C3DE5A20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495300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F7C4D-8F67-4FD5-A14F-82F6431F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68.5%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80869-4F96-49EE-8196-300B59C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 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D4913-0349-45DE-9B7B-D8AC815C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64890"/>
            <a:ext cx="495300" cy="178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6D798-3F2C-4D75-9C55-B5D7351A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629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65.6%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921A9-0CC2-48E1-BAFC-FCF0F5AC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 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562B9-9AAE-40F5-9A04-7D546FA0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8205"/>
            <a:ext cx="495300" cy="1934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A0519-4391-4F17-B80E-3EC3440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8960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67.7%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D9278-0AAA-4519-8256-84D2ECD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 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CEB9B-2B14-4920-BE37-739D12DC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8505"/>
            <a:ext cx="495300" cy="2074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4B4AB-4C87-43B4-8042-DC9EEF3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990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69.7%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236B4-C5D5-4FD6-8545-8342BDD9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 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754CC-00E6-4F08-B7A5-1910496E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6745"/>
            <a:ext cx="495300" cy="2186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2FA78-6107-4462-A315-9F9FCAF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814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71.3%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968B9-B3FD-432F-B445-4CE8BDFC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 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DC7AD-E4DB-4227-BD56-BD75C01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2475"/>
            <a:ext cx="495300" cy="206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A9A903-5A7F-4F28-99F0-B2B92AB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38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69.5%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F19A1E-32EF-4247-81C0-3E2FF738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Apr 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BE9F1-5F1D-496E-950E-CF2468A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10865"/>
            <a:ext cx="495300" cy="2242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848A5-D5A6-4284-B406-7A7F9C87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226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72.1%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D98974-3D55-4558-8EA5-BFA71B3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Apr 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A60FF6-30E6-4A96-B035-7C009B0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0660"/>
            <a:ext cx="495300" cy="2612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CE0C45-1E78-45A2-9C98-9E4228B2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206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77.4%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879DF4-2242-461E-BE0C-6282B6E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Apr 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6408A9-6625-49D6-B944-E27F231E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2995"/>
            <a:ext cx="495300" cy="440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0A646C-45DF-4A13-BED1-7C5860A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439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6424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64242"/>
                </a:solidFill>
                <a:latin typeface="Aptos"/>
                <a:ea typeface="Aptos"/>
                <a:cs typeface="Aptos"/>
              </a:rPr>
              <a:t>46.3%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028D0-536C-4349-AFD1-8F35F273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6424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64242"/>
                </a:solidFill>
                <a:latin typeface="Aptos"/>
                <a:ea typeface="Aptos"/>
                <a:cs typeface="Aptos"/>
              </a:rPr>
              <a:t>Apr 27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D828EE-EC98-45DB-9DEA-CB89AEE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Customer-week retention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35C065-3480-498A-9A23-466BF952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71700"/>
            <a:ext cx="3048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4D8F5-4095-4BC7-B257-5A3150A4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Operational metrics moved with the drop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E6F714-59C0-4001-A082-78F0096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Crash exposure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9350B1-C189-4EE4-9BB8-0DD97758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76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32BB05-B4BC-492A-9C76-54565A6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766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D2EF6E-8329-4B40-B319-85089C59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766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642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4242"/>
                </a:solidFill>
                <a:latin typeface="Aptos"/>
                <a:ea typeface="Aptos"/>
                <a:cs typeface="Aptos"/>
              </a:rPr>
              <a:t>52.6%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504FA5-C861-44F1-98E0-597F5990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Email coverage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49FC6C-35DE-4374-8276-D9FA9E74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12.2%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B6A5B7-632B-4745-93AA-5E8EA5A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576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B9491E-8B0D-4DA1-874F-3566B6B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576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2.2%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E9D4CE-D39D-4BCB-A0C3-4C8F4EB4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Promo exposure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DDC677-DF58-4A08-877E-484E1E1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05F212-6D3C-45F3-8641-C75F1CC9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0386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CE9F14-54C4-4943-A10D-C4A299CB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386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9.7%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551370-8814-4015-B0C8-63B535FD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9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Support rate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CB11C6-38E8-4FFC-BA9B-5C05DB3B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19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7.1%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8917F9-0429-49FE-98EE-6BE15A68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196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C59623-95B1-4C58-8A40-DD87FC23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196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642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4242"/>
                </a:solidFill>
                <a:latin typeface="Aptos"/>
                <a:ea typeface="Aptos"/>
                <a:cs typeface="Aptos"/>
              </a:rPr>
              <a:t>18.5%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8B8D2B-8B82-44A7-90D4-5E3C455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Avg risk score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4DD7D4-DA79-4FAB-B965-E7FBAEF7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00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41.7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A392ED-6C44-4C8B-8FAF-BABBB14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006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101895-0C67-45B9-BC9C-50ADB23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006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642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4242"/>
                </a:solidFill>
                <a:latin typeface="Aptos"/>
                <a:ea typeface="Aptos"/>
                <a:cs typeface="Aptos"/>
              </a:rPr>
              <a:t>63.1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ECB060-0F00-4BBF-A393-695AAE72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DCC3C4-175A-4019-9161-5C02F8AD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customer_retention_data.csv | customer-week aggregation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3563D2-EE6C-458A-A4A2-51CF1786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6874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A4207-7A16-4E16-9109-25F0B24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BED64-599E-43EF-8B35-0412D08A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9AFE1-EE99-428C-BD8B-15AAC46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98FEF-F79F-4DD4-AD0E-1666379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0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Mobile app 4.3.1 is the clearest root-cause candidate.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7B8A2-CC12-4B6C-AA93-00C9B0E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23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crash flag is absent in the prior four-week baseline, then appears in over half of drop-week customer-weeks. Version 4.3.1 carries the deepest contribution to the decline.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ACCC1-959E-477B-8BDD-657F18E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7A46C-7491-483D-88B3-C983C470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rPr>
              <a:t>52.6%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E6C20-72F7-493D-A003-C42AE07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drop-week customer-weeks exposed to mobile crash bug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FB4E-346A-4313-AECC-887BA714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0F2CE-4730-4B4B-BEDF-57C451BE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CB575-20F0-498F-BE72-5356B2E0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DC87B-F571-4BAC-854D-B7AE341C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24A38-20B6-4EB1-BC11-7BE79294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Apr 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A98B0-2E2B-49F7-8CC3-F069758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96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5608D-DF3B-4CF4-8360-261FB14B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9625"/>
            <a:ext cx="208756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244F1-D36F-4BCF-B41F-6B4323E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52.6%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79582-65D1-40BE-BD67-C4CC37FC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71750"/>
            <a:ext cx="561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93861-407A-45B5-98BD-866E6A0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6670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46086-A21E-4EA6-AA72-27E20728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E5435-1676-45E0-ACB3-59FAA4B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67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58597-5730-4D32-99F8-98E35C6E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670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DEAB6-E869-4B83-8E60-60ABF51B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670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Crash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93130-C47E-4101-A74F-704D58A9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67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5CDE0-2F30-48C1-93AF-84A6526F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67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Contrib.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A2A9B-2F45-445D-BE17-ABA0F9C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85BA0-D287-4AD1-B457-62DD7DFB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765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6424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64242"/>
                </a:solidFill>
                <a:latin typeface="Aptos"/>
                <a:ea typeface="Aptos"/>
                <a:cs typeface="Aptos"/>
              </a:rPr>
              <a:t>4.3.1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98834-EEC7-4079-AE84-800CC8C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765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1AC41-0B94-46AA-B5AF-9DF6841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765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274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813CD-E37E-4695-928F-FA0A1B7D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765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33.2%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F7A33-D51F-4881-AEDC-4EC9D32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765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AAA5A-71E8-4145-A285-367618E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765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29.9%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87019F-83EA-48DD-90DA-92397B4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0765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-18.3 pp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04B9CA-E339-44F1-AC61-D3C43E4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0995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A55F74-18CB-43EA-8D90-7536197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95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C80A8-5066-480B-B558-84D5D923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956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1,083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F48DBE-9D5F-4EE6-AC94-C9E9F15A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956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AC7292-3615-4A0A-94F7-2D0DE3E5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956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58.2%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5C737-CEB4-4C79-95CD-2A4DD76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956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73CB4C-9E2D-4A83-81C4-AA8D5AF0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6.6%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D0B896-354D-406E-BE6C-C03860F8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4956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-5.0 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C1EA02-367C-463E-9DF2-A8A6BCC1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2905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B6CD04-044D-4D2F-AD2D-FFCC68A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9147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4.3.0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A3D998-280B-4E5A-A042-48437B8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147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639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701FB0-5E9B-41D5-B53B-59DF155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147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250AF5-106B-4084-AAD6-093617C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14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50.7%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BC8FEF-FB98-41A8-9798-EE10A82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914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43.3%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BEA2C1-6152-432D-9FDF-EAA4583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147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17.9%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4CB379-61C4-4583-ACC3-7831A94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9147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-2.7 pp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738827-3C90-4E8A-8352-7546982B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4815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DE9408-0E03-4E8A-BBEE-0A38748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338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4.2.9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2CCD9A-B05E-467B-8B75-4A031CD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33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DEDC88-15E3-44CF-B044-FB9AA3E8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33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5008BA-8902-4C2F-ACDC-F858623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338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67.6%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701254-371F-4E66-8175-B3F761B5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338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17.6%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369DD0-7ED3-4272-AADC-B5D00D87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338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3BC79A-B409-4FB0-AA29-A0F0EB18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3338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-0.5 pp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E980F8-CE18-4CAE-805B-3C0193AE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625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Read: approximate contribution combines segment retention change and mix shift; negative values indicate more drop pressure.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52A51D-D4BF-4E03-8797-E43C30E4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24D0A7-EFB6-4251-AA51-D6EEA9A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customer_retention_data.csv | customer-week aggregation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46C336-8117-48B8-9D2F-4F53F7B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4567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CB51A-433B-4725-866E-A18AECE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BEE93-052C-46C2-AE4F-3EBBC0E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0EB0-6A9A-4980-AE94-DF0BA22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COMPOUNDING EFFECTS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E90D8-BE4B-45A0-8007-4DF0FB5A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Lifecycle reach and support friction made the product issue harder to recover from.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76FF1-8C12-4FC7-9A88-3AFC1261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9053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77CE3-8A32-4466-85BE-E05D77C6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Lifecycle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9609F-12C1-4F16-8571-B150B6A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4048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Fewer users received reactivation nudges exactly when they needed a reason to return.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3FDD8-AFBA-414B-AB88-1476FEB1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171AA-1C1E-4552-B402-FEC832B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DA318-53AC-4E9A-AC44-87705F0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Apr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62828-6C77-450C-9CA4-19C6D066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F2641-0AC2-48E7-B25C-3028699C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433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12.2%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9B43A-8231-4667-A44B-D506BF2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rPr>
              <a:t>2.2%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CC3E4-8139-4835-AD41-6C6845E2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Promo exposure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70C1E-BEDF-4F73-9C52-B3C3BF2D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62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33.3%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0CEAE-4776-43BA-BE39-18DC0F2F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rPr>
              <a:t>9.7%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2E9B9-8700-49C6-8FFE-15C9ACF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Email-channel retention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FDF6A-DA9C-46C2-A7EB-51E9E18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815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75.5%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922A7-43CC-4292-85F6-D6DBD8A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815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rPr>
              <a:t>34.3%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9B17A-904D-46D6-A686-0032E69E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90750"/>
            <a:ext cx="49053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7345AE-FF19-4F5B-9E29-7FDBE1D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57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Support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EF86F-B339-412B-BFCA-D3F5C60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19400"/>
            <a:ext cx="4048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Friction showed up as tickets, shorter sessions, and a higher risk profile.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403D3-6352-41CC-886D-B2ED934C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480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D61E6-C41E-4056-A64D-1D351722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3E748-B994-4EA3-8282-833946A7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38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Apr 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A9EC1-F775-4FCE-A98F-711FBA41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Support-ticket 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07B80-99E2-43EB-99D4-D4F803B3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7.1%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26356-F69E-4F77-9864-D0F6B058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433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rPr>
              <a:t>18.5%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6C72C-CCB5-4BA2-9E6D-73B62EA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62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Avg risk 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5165C-F3B4-4BCA-97B9-13F8AAA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41.7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32D408-B6FC-4F09-A196-DC9EBAEE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rPr>
              <a:t>63.1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F5DEE-67F9-4873-813C-BF9A330B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81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Avg session length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B3F593-C139-46F8-A7C2-71990D0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815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11.2m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C707A-374E-47AC-BDF8-FF535C3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815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rPr>
              <a:t>7.4m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DC10FF-9717-411F-98C8-29749BC7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Interpretation: these are not independent root causes; they amplify the mobile defect by reducing rescue messaging and increasing unresolved friction.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3DE37-1273-4DB5-91CF-B0A4725A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4F8E7-ACF0-4F28-8300-E990441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customer_retention_data.csv | customer-week aggregation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C440D3-764D-4FB0-8A8A-124503A7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23157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B2D14-9660-40B9-9E92-8BBE3E2C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E7A88-9655-46D3-9C1B-E4BA6B28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50F2B-3D82-4670-8505-67B324AA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RECOVERY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F5B6-6049-4923-A808-0760083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Sequence the response around fix, rescue, and containment.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23C19-85B1-4C00-8749-041B3D5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067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54F2B-6C20-4589-9F84-1A29D7A1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64242"/>
                </a:solidFill>
                <a:latin typeface="Aptos Display"/>
                <a:ea typeface="Aptos Display"/>
                <a:cs typeface="Aptos Display"/>
              </a:rPr>
              <a:t>0-24h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008C6-778A-4C98-B112-4977B40D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Stabilize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D3F3-8674-44B6-8756-3BB08B28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1F828-6D9E-470E-BFFB-C9516D9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Rollback or hotfix 4.3.1; segment all exposed users; stop incremental rollout until crash exposure returns to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7AC75-A316-414E-9CD0-103271A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67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6F77E-71C3-4B69-A21A-AAE4770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47F2C"/>
                </a:solidFill>
                <a:latin typeface="Aptos Display"/>
                <a:ea typeface="Aptos Display"/>
                <a:cs typeface="Aptos Display"/>
              </a:rPr>
              <a:t>24-48h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1B4A5-CF75-4686-B5A1-BD7A2849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Rescue affected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4471D-8340-4F7C-8DD6-D18B4D7C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DB02D-DE88-4D74-9A1F-AAB7495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Trigger apology/reactivation campaign to 4.3.1 exposed mobile users; restore promo and email coverage to pre-drop levels.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5730E-65E5-4D3D-88B5-8EE4C7D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067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AD9D6-4993-47CC-8933-0F96CCC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48-72h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28FA0-B4DB-4015-8F06-6C9379BE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Contain support 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0EF7E-99DB-4A23-B523-EA035EC1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2C056-C0A1-4C26-9621-401E492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Prioritize crash-tagged tickets, publish status messaging, and monitor retained-next-7d for exposed vs unexposed cohorts.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030E1-CF26-45F8-85AB-36E473E7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017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C788A-04A7-49DB-B8BD-A39B1F9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965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ask: authorize mobile release rollback/hotfix, lifecycle make-good campaign, and a daily retention war-room until crash exposure is back near zero.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11EBD-BCA5-4EEE-9CD2-7B29E15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51EB3-F582-475B-A3B4-8B52582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customer_retention_data.csv | customer-week aggregation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5498E-FF68-4FCD-A345-C3C4A7B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657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2026-05-08T02:09:14.0210000Z</dcterms:created>
  <dcterms:modified xsi:type="dcterms:W3CDTF">2026-05-08T02:09:14.0210000Z</dcterms:modified>
</coreProperties>
</file>